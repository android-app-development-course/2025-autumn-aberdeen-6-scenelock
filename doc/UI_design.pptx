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4630400" cy="8229600"/>
  <p:notesSz cx="8229600" cy="14630400"/>
  <p:embeddedFontLst>
    <p:embeddedFont>
      <p:font typeface="Open Sans" panose="020B0606030504020204" pitchFamily="34" charset="0"/>
      <p:bold r:id="rId10"/>
    </p:embeddedFont>
    <p:embeddedFont>
      <p:font typeface="等线" panose="02010600030101010101" pitchFamily="2" charset="-122"/>
      <p:regular r:id="rId11"/>
      <p:bold r:id="rId12"/>
    </p:embeddedFont>
    <p:embeddedFont>
      <p:font typeface="等线 Light" panose="02010600030101010101" pitchFamily="2" charset="-122"/>
      <p:regular r:id="rId13"/>
    </p:embeddedFont>
    <p:embeddedFont>
      <p:font typeface="仿宋" panose="02010609060101010101" pitchFamily="49" charset="-122"/>
      <p:regular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DCDDD-D706-4352-9265-9D7898015EF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CD09E-88E7-4E56-8902-38C6C5373C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2.png"/><Relationship Id="rId3" Type="http://schemas.openxmlformats.org/officeDocument/2006/relationships/tags" Target="../tags/tag3.xml"/><Relationship Id="rId21" Type="http://schemas.openxmlformats.org/officeDocument/2006/relationships/image" Target="../media/image15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1.svg"/><Relationship Id="rId2" Type="http://schemas.openxmlformats.org/officeDocument/2006/relationships/tags" Target="../tags/tag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png"/><Relationship Id="rId10" Type="http://schemas.openxmlformats.org/officeDocument/2006/relationships/tags" Target="../tags/tag10.xml"/><Relationship Id="rId19" Type="http://schemas.openxmlformats.org/officeDocument/2006/relationships/image" Target="../media/image13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4.xml"/><Relationship Id="rId22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16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16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16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430" y="-8001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50" y="1112520"/>
            <a:ext cx="8361680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zh-CN" altLang="en-US" sz="4450" b="1" dirty="0">
                <a:solidFill>
                  <a:srgbClr val="333F70"/>
                </a:solidFill>
                <a:latin typeface="仿宋" panose="02010609060101010101" charset="-122"/>
                <a:ea typeface="仿宋" panose="02010609060101010101" charset="-122"/>
                <a:cs typeface="Unbounded Bold" pitchFamily="34" charset="-120"/>
              </a:rPr>
              <a:t>境所</a:t>
            </a:r>
            <a:r>
              <a:rPr lang="en-US" altLang="zh-CN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altLang="zh-CN" sz="4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SceneLock </a:t>
            </a:r>
            <a:r>
              <a:rPr lang="en-US" sz="4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UI</a:t>
            </a:r>
            <a:r>
              <a:rPr lang="en-US" sz="4450" b="1" dirty="0">
                <a:solidFill>
                  <a:srgbClr val="333F70"/>
                </a:solidFill>
                <a:latin typeface="仿宋" panose="02010609060101010101" charset="-122"/>
                <a:ea typeface="仿宋" panose="02010609060101010101" charset="-122"/>
                <a:cs typeface="Unbounded Bold" pitchFamily="34" charset="-120"/>
              </a:rPr>
              <a:t>设计介绍</a:t>
            </a:r>
            <a:endParaRPr lang="en-US" sz="4450" dirty="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92095" y="2374265"/>
            <a:ext cx="9721850" cy="42532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打造卓越用户体验的视觉艺术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793790" y="675441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探索从用户需求到视觉呈现的完整设计旅程，创造令人难忘的数字体验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50305" y="7244001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/>
              <a:t>组员：李子昕</a:t>
            </a:r>
            <a:r>
              <a:rPr lang="en-US" altLang="zh-CN" sz="1750" dirty="0"/>
              <a:t> </a:t>
            </a:r>
            <a:r>
              <a:rPr lang="zh-CN" altLang="en-US" sz="1750" dirty="0"/>
              <a:t>许飞洋</a:t>
            </a:r>
            <a:r>
              <a:rPr lang="en-US" altLang="zh-CN" sz="1750" dirty="0"/>
              <a:t> </a:t>
            </a:r>
            <a:r>
              <a:rPr lang="zh-CN" altLang="en-US" sz="1750" dirty="0"/>
              <a:t>陈蜀予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60" y="753189"/>
            <a:ext cx="7655481" cy="1328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仿宋" panose="02010609060101010101" charset="-122"/>
                <a:ea typeface="仿宋" panose="02010609060101010101" charset="-122"/>
                <a:cs typeface="Unbounded Bold" pitchFamily="34" charset="-120"/>
              </a:rPr>
              <a:t>设计前的关键一步：用户调研与需求分析</a:t>
            </a:r>
            <a:endParaRPr lang="en-US" sz="4150" dirty="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4260" y="2401133"/>
            <a:ext cx="3721418" cy="2771418"/>
          </a:xfrm>
          <a:prstGeom prst="roundRect">
            <a:avLst>
              <a:gd name="adj" fmla="val 3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4525" y="2621399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26A688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904" y="2796778"/>
            <a:ext cx="287060" cy="287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525" y="3471982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锁定目标用户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64525" y="3931801"/>
            <a:ext cx="3280886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深入了解用户画像、使用场景和行为习惯，挖掘真实需求和核心痛点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4678323" y="2401133"/>
            <a:ext cx="3721418" cy="2771418"/>
          </a:xfrm>
          <a:prstGeom prst="roundRect">
            <a:avLst>
              <a:gd name="adj" fmla="val 3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98588" y="2621399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26A688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3968" y="2796778"/>
            <a:ext cx="287060" cy="287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98588" y="3471982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数据收集与分析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4898588" y="3931801"/>
            <a:ext cx="3280886" cy="10204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通过问卷调查、用户访谈、竞品分析等方法，收集多维度数据指导设计决策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744260" y="5385197"/>
            <a:ext cx="7655481" cy="2091095"/>
          </a:xfrm>
          <a:prstGeom prst="roundRect">
            <a:avLst>
              <a:gd name="adj" fmla="val 42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64525" y="5605462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26A688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9904" y="5780842"/>
            <a:ext cx="287060" cy="287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4525" y="6456045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需求优先级排序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964525" y="6915864"/>
            <a:ext cx="721494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梳理功能需求，确定优先级，确保界面设计聚焦核心价值，提升产品竞争力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206937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设计规范：保持界面一致性与高效协作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64656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Arial" panose="020B0604020202020204" pitchFamily="34" charset="0"/>
                <a:ea typeface="Unbounded Light" pitchFamily="34" charset="-122"/>
                <a:cs typeface="Arial" panose="020B0604020202020204" pitchFamily="34" charset="0"/>
              </a:rPr>
              <a:t>01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3319701"/>
            <a:ext cx="3664744" cy="30480"/>
          </a:xfrm>
          <a:prstGeom prst="rect">
            <a:avLst/>
          </a:prstGeom>
          <a:solidFill>
            <a:srgbClr val="26A688"/>
          </a:solidFill>
        </p:spPr>
      </p:sp>
      <p:sp>
        <p:nvSpPr>
          <p:cNvPr id="6" name="Text 3"/>
          <p:cNvSpPr/>
          <p:nvPr/>
        </p:nvSpPr>
        <p:spPr>
          <a:xfrm>
            <a:off x="6280190" y="349400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建立设计系统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3984427"/>
            <a:ext cx="366474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定义统一的色彩体系、字体层级、图标风格和UI组件库，形成完整的视觉语言</a:t>
            </a:r>
            <a:endParaRPr lang="en-US" sz="1750" b="1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71748" y="2964656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Arial" panose="020B0604020202020204" pitchFamily="34" charset="0"/>
                <a:ea typeface="Unbounded Light" pitchFamily="34" charset="-122"/>
                <a:cs typeface="Arial" panose="020B0604020202020204" pitchFamily="34" charset="0"/>
              </a:rPr>
              <a:t>02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171748" y="3319701"/>
            <a:ext cx="3664863" cy="30480"/>
          </a:xfrm>
          <a:prstGeom prst="rect">
            <a:avLst/>
          </a:prstGeom>
          <a:solidFill>
            <a:srgbClr val="26A688"/>
          </a:solidFill>
        </p:spPr>
      </p:sp>
      <p:sp>
        <p:nvSpPr>
          <p:cNvPr id="10" name="Text 7"/>
          <p:cNvSpPr/>
          <p:nvPr/>
        </p:nvSpPr>
        <p:spPr>
          <a:xfrm>
            <a:off x="10171748" y="349400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AI工具赋能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71748" y="3984427"/>
            <a:ext cx="366486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利用AI辅助工具快速生成设计变体，智能适配不同场景，大幅提升设计效率</a:t>
            </a:r>
            <a:endParaRPr lang="en-US" sz="1750" b="1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6" name="图片 15" descr="ddd6dc58eb6779b44a35959cc85843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" y="727710"/>
            <a:ext cx="5541010" cy="6773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257" y="734854"/>
            <a:ext cx="7705487" cy="12842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色彩、图标与动效的巧妙运用</a:t>
            </a:r>
            <a:endParaRPr lang="en-US" sz="4000" dirty="0"/>
          </a:p>
        </p:txBody>
      </p:sp>
      <p:sp>
        <p:nvSpPr>
          <p:cNvPr id="4" name="Shape 1"/>
          <p:cNvSpPr/>
          <p:nvPr>
            <p:custDataLst>
              <p:tags r:id="rId1"/>
            </p:custDataLst>
          </p:nvPr>
        </p:nvSpPr>
        <p:spPr>
          <a:xfrm>
            <a:off x="719257" y="2635568"/>
            <a:ext cx="3749993" cy="2501384"/>
          </a:xfrm>
          <a:prstGeom prst="roundRect">
            <a:avLst>
              <a:gd name="adj" fmla="val 4387"/>
            </a:avLst>
          </a:prstGeom>
          <a:solidFill>
            <a:srgbClr val="FFFFFF"/>
          </a:solidFill>
        </p:spPr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719257" y="2612708"/>
            <a:ext cx="3749993" cy="91440"/>
          </a:xfrm>
          <a:prstGeom prst="roundRect">
            <a:avLst>
              <a:gd name="adj" fmla="val 94397"/>
            </a:avLst>
          </a:prstGeom>
          <a:solidFill>
            <a:srgbClr val="26A688"/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2286000" y="2327315"/>
            <a:ext cx="616506" cy="616506"/>
          </a:xfrm>
          <a:prstGeom prst="roundRect">
            <a:avLst>
              <a:gd name="adj" fmla="val 148320"/>
            </a:avLst>
          </a:prstGeom>
          <a:solidFill>
            <a:srgbClr val="26A688"/>
          </a:solidFill>
        </p:spPr>
      </p:sp>
      <p:pic>
        <p:nvPicPr>
          <p:cNvPr id="7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70904" y="2512219"/>
            <a:ext cx="246578" cy="246578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947618" y="3149322"/>
            <a:ext cx="2568893" cy="3211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色彩搭配策略</a:t>
            </a:r>
            <a:endParaRPr lang="en-US" sz="200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947618" y="3593663"/>
            <a:ext cx="3293269" cy="13149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选择符合品牌调性的</a:t>
            </a:r>
            <a:r>
              <a:rPr lang="zh-CN" alt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温柔舒缓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配色方案，兼顾视觉舒适度与情感吸引力。主色传递品牌个性，辅助色丰富层次，确保足够的对比度以保证可读性。</a:t>
            </a:r>
            <a:endParaRPr lang="en-US" sz="1600" dirty="0"/>
          </a:p>
        </p:txBody>
      </p:sp>
      <p:sp>
        <p:nvSpPr>
          <p:cNvPr id="10" name="Shape 6"/>
          <p:cNvSpPr/>
          <p:nvPr>
            <p:custDataLst>
              <p:tags r:id="rId7"/>
            </p:custDataLst>
          </p:nvPr>
        </p:nvSpPr>
        <p:spPr>
          <a:xfrm>
            <a:off x="4674751" y="2635568"/>
            <a:ext cx="3749993" cy="2501384"/>
          </a:xfrm>
          <a:prstGeom prst="roundRect">
            <a:avLst>
              <a:gd name="adj" fmla="val 4387"/>
            </a:avLst>
          </a:prstGeom>
          <a:solidFill>
            <a:srgbClr val="FFFFFF"/>
          </a:solidFill>
        </p:spPr>
      </p:sp>
      <p:sp>
        <p:nvSpPr>
          <p:cNvPr id="11" name="Shape 7"/>
          <p:cNvSpPr/>
          <p:nvPr>
            <p:custDataLst>
              <p:tags r:id="rId8"/>
            </p:custDataLst>
          </p:nvPr>
        </p:nvSpPr>
        <p:spPr>
          <a:xfrm>
            <a:off x="4674751" y="2612708"/>
            <a:ext cx="3749993" cy="91440"/>
          </a:xfrm>
          <a:prstGeom prst="roundRect">
            <a:avLst>
              <a:gd name="adj" fmla="val 94397"/>
            </a:avLst>
          </a:prstGeom>
          <a:solidFill>
            <a:srgbClr val="26A688"/>
          </a:solidFill>
        </p:spPr>
      </p:sp>
      <p:sp>
        <p:nvSpPr>
          <p:cNvPr id="12" name="Shape 8"/>
          <p:cNvSpPr/>
          <p:nvPr>
            <p:custDataLst>
              <p:tags r:id="rId9"/>
            </p:custDataLst>
          </p:nvPr>
        </p:nvSpPr>
        <p:spPr>
          <a:xfrm>
            <a:off x="6241494" y="2327315"/>
            <a:ext cx="616506" cy="616506"/>
          </a:xfrm>
          <a:prstGeom prst="roundRect">
            <a:avLst>
              <a:gd name="adj" fmla="val 148320"/>
            </a:avLst>
          </a:prstGeom>
          <a:solidFill>
            <a:srgbClr val="26A688"/>
          </a:solidFill>
        </p:spPr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26398" y="2512219"/>
            <a:ext cx="246578" cy="246578"/>
          </a:xfrm>
          <a:prstGeom prst="rect">
            <a:avLst/>
          </a:prstGeom>
        </p:spPr>
      </p:pic>
      <p:sp>
        <p:nvSpPr>
          <p:cNvPr id="14" name="Text 9"/>
          <p:cNvSpPr/>
          <p:nvPr>
            <p:custDataLst>
              <p:tags r:id="rId11"/>
            </p:custDataLst>
          </p:nvPr>
        </p:nvSpPr>
        <p:spPr>
          <a:xfrm>
            <a:off x="4903113" y="3149322"/>
            <a:ext cx="2568893" cy="3211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图标设计原则</a:t>
            </a:r>
            <a:endParaRPr lang="en-US" sz="2000" dirty="0"/>
          </a:p>
        </p:txBody>
      </p:sp>
      <p:sp>
        <p:nvSpPr>
          <p:cNvPr id="15" name="Text 10"/>
          <p:cNvSpPr/>
          <p:nvPr>
            <p:custDataLst>
              <p:tags r:id="rId12"/>
            </p:custDataLst>
          </p:nvPr>
        </p:nvSpPr>
        <p:spPr>
          <a:xfrm>
            <a:off x="4903113" y="3593663"/>
            <a:ext cx="3293269" cy="13149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追求简洁、统一、易识别的图标风格。使用矢量格式支持多分辨率适配，确保在不同屏幕密度下都清晰锐利，传达准确的功能含义。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19257" y="5650706"/>
            <a:ext cx="7705487" cy="1843921"/>
          </a:xfrm>
          <a:prstGeom prst="roundRect">
            <a:avLst>
              <a:gd name="adj" fmla="val 5951"/>
            </a:avLst>
          </a:prstGeom>
          <a:solidFill>
            <a:srgbClr val="FFFFFF"/>
          </a:solidFill>
        </p:spPr>
      </p:sp>
      <p:sp>
        <p:nvSpPr>
          <p:cNvPr id="17" name="Shape 12"/>
          <p:cNvSpPr/>
          <p:nvPr/>
        </p:nvSpPr>
        <p:spPr>
          <a:xfrm>
            <a:off x="719257" y="5627846"/>
            <a:ext cx="7705487" cy="91440"/>
          </a:xfrm>
          <a:prstGeom prst="roundRect">
            <a:avLst>
              <a:gd name="adj" fmla="val 94397"/>
            </a:avLst>
          </a:prstGeom>
          <a:solidFill>
            <a:srgbClr val="26A688"/>
          </a:solidFill>
        </p:spPr>
      </p:sp>
      <p:sp>
        <p:nvSpPr>
          <p:cNvPr id="18" name="Shape 13"/>
          <p:cNvSpPr/>
          <p:nvPr/>
        </p:nvSpPr>
        <p:spPr>
          <a:xfrm>
            <a:off x="4263747" y="5342453"/>
            <a:ext cx="616506" cy="616506"/>
          </a:xfrm>
          <a:prstGeom prst="roundRect">
            <a:avLst>
              <a:gd name="adj" fmla="val 148320"/>
            </a:avLst>
          </a:prstGeom>
          <a:solidFill>
            <a:srgbClr val="26A688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448651" y="5527357"/>
            <a:ext cx="246578" cy="24657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7618" y="6164461"/>
            <a:ext cx="2568893" cy="3211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动效交互反馈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947618" y="6608802"/>
            <a:ext cx="7248763" cy="6574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精心设计的微动效提升操作反馈感，增强交互的趣味性和流畅度。过渡动画引导用户视线，加载动画缓解等待焦虑，让体验更加生动自然。</a:t>
            </a:r>
            <a:endParaRPr lang="en-US" sz="1600" dirty="0"/>
          </a:p>
        </p:txBody>
      </p:sp>
      <p:pic>
        <p:nvPicPr>
          <p:cNvPr id="22" name="图片 21" descr="383ba89e4fa990e674cb26fa3290ff5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33790" y="1914525"/>
            <a:ext cx="5739765" cy="3944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0185" y="817682"/>
            <a:ext cx="623673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zh-CN" altLang="en-US" sz="4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Unbounded Bold" pitchFamily="34" charset="-120"/>
              </a:rPr>
              <a:t>主界面介绍</a:t>
            </a:r>
          </a:p>
        </p:txBody>
      </p:sp>
      <p:sp>
        <p:nvSpPr>
          <p:cNvPr id="4" name="Text 1"/>
          <p:cNvSpPr/>
          <p:nvPr>
            <p:custDataLst>
              <p:tags r:id="rId1"/>
            </p:custDataLst>
          </p:nvPr>
        </p:nvSpPr>
        <p:spPr>
          <a:xfrm>
            <a:off x="6239828" y="2356961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zh-CN" alt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快速开始专注</a:t>
            </a:r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6239828" y="3009067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无需繁琐步骤，打开</a:t>
            </a:r>
            <a:r>
              <a:rPr lang="en-US" altLang="zh-CN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</a:t>
            </a:r>
            <a:r>
              <a:rPr lang="zh-CN" alt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即可快速开始</a:t>
            </a: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6239828" y="3961686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zh-CN" alt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强制约束</a:t>
            </a: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6239828" y="4613791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/>
              <a:t>实时显示专注倒计时，若强行退出将导致本次专注失败且可能触发惩罚。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/>
              <a:t>提供一个需二次确认的机制，允许用户在真正紧急情况下退出专注模式，并记录退出行为。</a:t>
            </a: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6239828" y="556641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6239828" y="6218515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1" name="图片 10" descr="3bbbae00a761f9180b24dbaf486ce7f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935" y="450850"/>
            <a:ext cx="3623310" cy="7327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0185" y="817682"/>
            <a:ext cx="623673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zh-CN" alt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场景介绍</a:t>
            </a:r>
          </a:p>
        </p:txBody>
      </p:sp>
      <p:sp>
        <p:nvSpPr>
          <p:cNvPr id="4" name="Text 1"/>
          <p:cNvSpPr/>
          <p:nvPr>
            <p:custDataLst>
              <p:tags r:id="rId1"/>
            </p:custDataLst>
          </p:nvPr>
        </p:nvSpPr>
        <p:spPr>
          <a:xfrm>
            <a:off x="6239828" y="2356961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zh-CN" alt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多种场景选择</a:t>
            </a:r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6239828" y="3009067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用户可在多个预设场景中选择，并播放对应的高品质环境白噪音。</a:t>
            </a:r>
          </a:p>
          <a:p>
            <a:pPr marL="0" indent="0" algn="l">
              <a:lnSpc>
                <a:spcPts val="2850"/>
              </a:lnSpc>
              <a:buNone/>
            </a:pPr>
            <a:endParaRPr lang="zh-CN" altLang="en-US" sz="175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6239828" y="3961686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zh-CN" alt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白噪音播放器</a:t>
            </a: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6239828" y="4613791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/>
              <a:t>播放环境白噪音，让用户体验身临其境之感，学习工作不孤单</a:t>
            </a: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6239828" y="556641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6239828" y="6218515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2" name="图片 11" descr="926aff147ebbf5a48d3578a489c3678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817880"/>
            <a:ext cx="5460365" cy="6366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0185" y="817682"/>
            <a:ext cx="623673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zh-CN" alt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成就介绍</a:t>
            </a:r>
          </a:p>
        </p:txBody>
      </p:sp>
      <p:sp>
        <p:nvSpPr>
          <p:cNvPr id="4" name="Text 1"/>
          <p:cNvSpPr/>
          <p:nvPr>
            <p:custDataLst>
              <p:tags r:id="rId1"/>
            </p:custDataLst>
          </p:nvPr>
        </p:nvSpPr>
        <p:spPr>
          <a:xfrm>
            <a:off x="6239828" y="2356961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zh-CN" alt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场景主题奖励收集</a:t>
            </a:r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6239828" y="3009067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根据专注时长和资源，解锁对应场景的独特收集品。</a:t>
            </a: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6239828" y="3961686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zh-CN" alt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成就与徽章系统</a:t>
            </a: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6239828" y="4613791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/>
              <a:t>通过累积专注总时长或完成特定挑战，授予用户徽章和成就，满足收集欲和荣誉感。</a:t>
            </a: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6239828" y="556641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6239828" y="6218515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3" name="图片 2" descr="76454c1e40384d2be6ddad154d2cec1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290" y="661670"/>
            <a:ext cx="4888230" cy="69062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23125984251965,&quot;left&quot;:56.63440944881889,&quot;top&quot;:183.25314960629922,&quot;width&quot;:606.731259842519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20937007874016,&quot;left&quot;:491.3250393700788,&quot;top&quot;:185.58748031496063,&quot;width&quot;:598.762519685039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269</Words>
  <Application>Microsoft Office PowerPoint</Application>
  <PresentationFormat>自定义</PresentationFormat>
  <Paragraphs>48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Unbounded Bold</vt:lpstr>
      <vt:lpstr>Open Sans</vt:lpstr>
      <vt:lpstr>等线</vt:lpstr>
      <vt:lpstr>仿宋</vt:lpstr>
      <vt:lpstr>Calibri</vt:lpstr>
      <vt:lpstr>Arial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Py Lee</dc:creator>
  <cp:lastModifiedBy>Py Lee</cp:lastModifiedBy>
  <cp:revision>8</cp:revision>
  <dcterms:created xsi:type="dcterms:W3CDTF">2025-11-24T13:16:00Z</dcterms:created>
  <dcterms:modified xsi:type="dcterms:W3CDTF">2025-11-26T07:39:07Z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C85FA8643BC3447E86FE5320D898F14A_13</vt:lpwstr>
  </property>
  <property fmtid="{D5CDD505-2E9C-101B-9397-08002B2CF9AE}" pid="3" name="KSOProductBuildVer">
    <vt:lpwstr>2052-12.1.0.23542</vt:lpwstr>
  </property>
</Properties>
</file>